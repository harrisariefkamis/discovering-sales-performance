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Poppins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Poppi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4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3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6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5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b5f9784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6b5f9784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2c07813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72c07813fe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9d07a847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9d07a847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9d07a84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9d07a84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9d07a84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9d07a84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9d07a847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9d07a847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ec9a560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ec9a560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9d07a847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9d07a847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affe1f91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affe1f91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1705bf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1705bf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affe1f91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affe1f91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affe1f91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affe1f91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affe1f91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affe1f91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affe1f9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affe1f9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5128c11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5128c11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affe1f91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affe1f91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affe1f91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8affe1f91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affe1f91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8affe1f91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8bc1ea0f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8bc1ea0f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ce8cc5da62_0_10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1ce8cc5da62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5" name="Google Shape;12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8" name="Google Shape;13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8" name="Google Shape;14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2" name="Google Shape;152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" name="Google Shape;153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57" name="Google Shape;15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4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/>
          <p:nvPr/>
        </p:nvSpPr>
        <p:spPr>
          <a:xfrm>
            <a:off x="0" y="0"/>
            <a:ext cx="9144000" cy="29667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44"/>
          <p:cNvCxnSpPr/>
          <p:nvPr/>
        </p:nvCxnSpPr>
        <p:spPr>
          <a:xfrm>
            <a:off x="354375" y="728475"/>
            <a:ext cx="533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266700" y="76750"/>
            <a:ext cx="8877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b="1" lang="en" sz="2900">
                <a:solidFill>
                  <a:srgbClr val="2C5F78"/>
                </a:solidFill>
                <a:latin typeface="Poppins"/>
                <a:ea typeface="Poppins"/>
                <a:cs typeface="Poppins"/>
                <a:sym typeface="Poppins"/>
              </a:rPr>
              <a:t>DQLab x UjiKompetensi</a:t>
            </a:r>
            <a:endParaRPr b="1" sz="2900">
              <a:solidFill>
                <a:srgbClr val="2C5F7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4"/>
          <p:cNvSpPr txBox="1"/>
          <p:nvPr/>
        </p:nvSpPr>
        <p:spPr>
          <a:xfrm>
            <a:off x="271950" y="958625"/>
            <a:ext cx="3678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" sz="1800">
                <a:latin typeface="Poppins Medium"/>
                <a:ea typeface="Poppins Medium"/>
                <a:cs typeface="Poppins Medium"/>
                <a:sym typeface="Poppins Medium"/>
              </a:rPr>
              <a:t>Hackathon SQL</a:t>
            </a:r>
            <a:endParaRPr sz="1800">
              <a:solidFill>
                <a:srgbClr val="0E1E2B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1" name="Google Shape;191;p44"/>
          <p:cNvSpPr txBox="1"/>
          <p:nvPr/>
        </p:nvSpPr>
        <p:spPr>
          <a:xfrm>
            <a:off x="278175" y="2242475"/>
            <a:ext cx="2718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" sz="1800">
                <a:latin typeface="Poppins Medium"/>
                <a:ea typeface="Poppins Medium"/>
                <a:cs typeface="Poppins Medium"/>
                <a:sym typeface="Poppins Medium"/>
              </a:rPr>
              <a:t>11 June 2026</a:t>
            </a:r>
            <a:endParaRPr sz="1800">
              <a:solidFill>
                <a:srgbClr val="0E1E2B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2" name="Google Shape;192;p44"/>
          <p:cNvSpPr txBox="1"/>
          <p:nvPr/>
        </p:nvSpPr>
        <p:spPr>
          <a:xfrm>
            <a:off x="271950" y="1267478"/>
            <a:ext cx="4131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Briefing</a:t>
            </a:r>
            <a:endParaRPr sz="3300">
              <a:solidFill>
                <a:schemeClr val="dk2"/>
              </a:solidFill>
            </a:endParaRPr>
          </a:p>
        </p:txBody>
      </p:sp>
      <p:pic>
        <p:nvPicPr>
          <p:cNvPr id="193" name="Google Shape;193;p44"/>
          <p:cNvPicPr preferRelativeResize="0"/>
          <p:nvPr/>
        </p:nvPicPr>
        <p:blipFill rotWithShape="1">
          <a:blip r:embed="rId5">
            <a:alphaModFix/>
          </a:blip>
          <a:srcRect b="11449" l="13987" r="13618" t="43846"/>
          <a:stretch/>
        </p:blipFill>
        <p:spPr>
          <a:xfrm>
            <a:off x="3950850" y="526175"/>
            <a:ext cx="5022900" cy="3101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A="29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45" title="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745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01" name="Google Shape;201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2000"/>
              <a:t>What is DQLab’s Hackathon Platform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n" sz="2000"/>
              <a:t>Who can participate?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n" sz="2000"/>
              <a:t>How does it work?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6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What is DQLab’s Hackathon Platform?</a:t>
            </a:r>
            <a:endParaRPr b="1" sz="2720"/>
          </a:p>
        </p:txBody>
      </p:sp>
      <p:sp>
        <p:nvSpPr>
          <p:cNvPr id="208" name="Google Shape;20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Backend software engine that is</a:t>
            </a:r>
            <a:r>
              <a:rPr lang="en" sz="1900"/>
              <a:t> </a:t>
            </a:r>
            <a:r>
              <a:rPr lang="en" sz="2200">
                <a:solidFill>
                  <a:schemeClr val="dk1"/>
                </a:solidFill>
              </a:rPr>
              <a:t>designed to host, manage, and score SQL solution problem within a very limited time (24 hours) with participants of individuals or teams.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09" name="Google Shape;20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7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7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Who can Participate?</a:t>
            </a:r>
            <a:endParaRPr b="1" sz="2720"/>
          </a:p>
        </p:txBody>
      </p:sp>
      <p:sp>
        <p:nvSpPr>
          <p:cNvPr id="216" name="Google Shape;21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Everyone that already </a:t>
            </a:r>
            <a:r>
              <a:rPr lang="en" sz="2200">
                <a:solidFill>
                  <a:schemeClr val="dk1"/>
                </a:solidFill>
              </a:rPr>
              <a:t>registered as </a:t>
            </a:r>
            <a:r>
              <a:rPr lang="en" sz="2200">
                <a:solidFill>
                  <a:schemeClr val="dk1"/>
                </a:solidFill>
              </a:rPr>
              <a:t>DQLab members.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17" name="Google Shape;2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8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How does it Work?</a:t>
            </a:r>
            <a:endParaRPr b="1" sz="2720"/>
          </a:p>
        </p:txBody>
      </p:sp>
      <p:pic>
        <p:nvPicPr>
          <p:cNvPr id="224" name="Google Shape;22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9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9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The Flow</a:t>
            </a:r>
            <a:endParaRPr b="1" sz="2720"/>
          </a:p>
        </p:txBody>
      </p:sp>
      <p:pic>
        <p:nvPicPr>
          <p:cNvPr id="231" name="Google Shape;23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9"/>
          <p:cNvSpPr/>
          <p:nvPr/>
        </p:nvSpPr>
        <p:spPr>
          <a:xfrm>
            <a:off x="434350" y="2420300"/>
            <a:ext cx="1296600" cy="733500"/>
          </a:xfrm>
          <a:prstGeom prst="roundRect">
            <a:avLst>
              <a:gd fmla="val 16667" name="adj"/>
            </a:avLst>
          </a:prstGeom>
          <a:solidFill>
            <a:srgbClr val="2A8A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p49"/>
          <p:cNvSpPr/>
          <p:nvPr/>
        </p:nvSpPr>
        <p:spPr>
          <a:xfrm>
            <a:off x="1819038" y="2420300"/>
            <a:ext cx="1296300" cy="733500"/>
          </a:xfrm>
          <a:prstGeom prst="roundRect">
            <a:avLst>
              <a:gd fmla="val 16667" name="adj"/>
            </a:avLst>
          </a:prstGeom>
          <a:solidFill>
            <a:srgbClr val="2A8A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4" name="Google Shape;234;p49"/>
          <p:cNvSpPr/>
          <p:nvPr/>
        </p:nvSpPr>
        <p:spPr>
          <a:xfrm>
            <a:off x="3203425" y="2420300"/>
            <a:ext cx="1296600" cy="733500"/>
          </a:xfrm>
          <a:prstGeom prst="roundRect">
            <a:avLst>
              <a:gd fmla="val 16667" name="adj"/>
            </a:avLst>
          </a:prstGeom>
          <a:solidFill>
            <a:srgbClr val="2A8A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" name="Google Shape;235;p49"/>
          <p:cNvSpPr/>
          <p:nvPr/>
        </p:nvSpPr>
        <p:spPr>
          <a:xfrm>
            <a:off x="434350" y="3270050"/>
            <a:ext cx="1296600" cy="733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4</a:t>
            </a:r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1819038" y="3270050"/>
            <a:ext cx="1296300" cy="733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5</a:t>
            </a:r>
            <a:endParaRPr/>
          </a:p>
        </p:txBody>
      </p:sp>
      <p:sp>
        <p:nvSpPr>
          <p:cNvPr id="237" name="Google Shape;237;p49"/>
          <p:cNvSpPr/>
          <p:nvPr/>
        </p:nvSpPr>
        <p:spPr>
          <a:xfrm>
            <a:off x="5284400" y="1885025"/>
            <a:ext cx="3468000" cy="8589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Hackathon Scoring System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238" name="Google Shape;238;p49"/>
          <p:cNvSpPr/>
          <p:nvPr/>
        </p:nvSpPr>
        <p:spPr>
          <a:xfrm>
            <a:off x="3099775" y="395075"/>
            <a:ext cx="3468000" cy="858900"/>
          </a:xfrm>
          <a:prstGeom prst="roundRect">
            <a:avLst>
              <a:gd fmla="val 16667" name="adj"/>
            </a:avLst>
          </a:prstGeom>
          <a:solidFill>
            <a:srgbClr val="1A56D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e-</a:t>
            </a:r>
            <a:r>
              <a:rPr lang="en" sz="2100">
                <a:solidFill>
                  <a:schemeClr val="lt1"/>
                </a:solidFill>
              </a:rPr>
              <a:t>Mail Interaction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239" name="Google Shape;239;p49"/>
          <p:cNvCxnSpPr>
            <a:stCxn id="238" idx="1"/>
            <a:endCxn id="240" idx="0"/>
          </p:cNvCxnSpPr>
          <p:nvPr/>
        </p:nvCxnSpPr>
        <p:spPr>
          <a:xfrm flipH="1">
            <a:off x="2404375" y="824525"/>
            <a:ext cx="695400" cy="106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49"/>
          <p:cNvCxnSpPr>
            <a:stCxn id="238" idx="3"/>
            <a:endCxn id="237" idx="0"/>
          </p:cNvCxnSpPr>
          <p:nvPr/>
        </p:nvCxnSpPr>
        <p:spPr>
          <a:xfrm>
            <a:off x="6567775" y="824525"/>
            <a:ext cx="450600" cy="106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49"/>
          <p:cNvSpPr/>
          <p:nvPr/>
        </p:nvSpPr>
        <p:spPr>
          <a:xfrm>
            <a:off x="143750" y="2352800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43" name="Google Shape;243;p49"/>
          <p:cNvSpPr/>
          <p:nvPr/>
        </p:nvSpPr>
        <p:spPr>
          <a:xfrm>
            <a:off x="2920025" y="222300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2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44" name="Google Shape;244;p49"/>
          <p:cNvSpPr txBox="1"/>
          <p:nvPr/>
        </p:nvSpPr>
        <p:spPr>
          <a:xfrm>
            <a:off x="1169625" y="1178900"/>
            <a:ext cx="1138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submission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45" name="Google Shape;245;p49"/>
          <p:cNvSpPr txBox="1"/>
          <p:nvPr/>
        </p:nvSpPr>
        <p:spPr>
          <a:xfrm>
            <a:off x="2611325" y="1178900"/>
            <a:ext cx="1554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response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46" name="Google Shape;246;p49"/>
          <p:cNvCxnSpPr>
            <a:stCxn id="245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49"/>
          <p:cNvCxnSpPr/>
          <p:nvPr/>
        </p:nvCxnSpPr>
        <p:spPr>
          <a:xfrm flipH="1">
            <a:off x="2609225" y="1577825"/>
            <a:ext cx="4200" cy="2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49"/>
          <p:cNvCxnSpPr/>
          <p:nvPr/>
        </p:nvCxnSpPr>
        <p:spPr>
          <a:xfrm rot="10800000">
            <a:off x="2196500" y="967775"/>
            <a:ext cx="0" cy="24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49"/>
          <p:cNvSpPr/>
          <p:nvPr/>
        </p:nvSpPr>
        <p:spPr>
          <a:xfrm>
            <a:off x="5159775" y="1757775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3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50" name="Google Shape;250;p49"/>
          <p:cNvSpPr/>
          <p:nvPr/>
        </p:nvSpPr>
        <p:spPr>
          <a:xfrm>
            <a:off x="7062175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lt1"/>
                </a:solidFill>
              </a:rPr>
              <a:t>Originality</a:t>
            </a:r>
            <a:endParaRPr strike="sngStrike">
              <a:solidFill>
                <a:schemeClr val="lt1"/>
              </a:solidFill>
            </a:endParaRPr>
          </a:p>
        </p:txBody>
      </p:sp>
      <p:sp>
        <p:nvSpPr>
          <p:cNvPr id="251" name="Google Shape;251;p49"/>
          <p:cNvSpPr/>
          <p:nvPr/>
        </p:nvSpPr>
        <p:spPr>
          <a:xfrm>
            <a:off x="5284400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Early Submission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(date time of mail)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2" name="Google Shape;252;p49"/>
          <p:cNvSpPr/>
          <p:nvPr/>
        </p:nvSpPr>
        <p:spPr>
          <a:xfrm>
            <a:off x="5284400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Correctness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49"/>
          <p:cNvSpPr/>
          <p:nvPr/>
        </p:nvSpPr>
        <p:spPr>
          <a:xfrm>
            <a:off x="7062175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Speed of Execution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4" name="Google Shape;254;p49"/>
          <p:cNvSpPr/>
          <p:nvPr/>
        </p:nvSpPr>
        <p:spPr>
          <a:xfrm>
            <a:off x="7201875" y="521525"/>
            <a:ext cx="1734000" cy="1031400"/>
          </a:xfrm>
          <a:prstGeom prst="roundRect">
            <a:avLst>
              <a:gd fmla="val 16667" name="adj"/>
            </a:avLst>
          </a:prstGeom>
          <a:solidFill>
            <a:srgbClr val="0E1E2B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Score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DQLab Leaderboard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5" name="Google Shape;255;p49"/>
          <p:cNvSpPr/>
          <p:nvPr/>
        </p:nvSpPr>
        <p:spPr>
          <a:xfrm>
            <a:off x="7018375" y="268350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4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56" name="Google Shape;256;p49"/>
          <p:cNvSpPr/>
          <p:nvPr/>
        </p:nvSpPr>
        <p:spPr>
          <a:xfrm>
            <a:off x="3203438" y="3270050"/>
            <a:ext cx="1296300" cy="733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0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0"/>
          <p:cNvSpPr txBox="1"/>
          <p:nvPr>
            <p:ph type="title"/>
          </p:nvPr>
        </p:nvSpPr>
        <p:spPr>
          <a:xfrm>
            <a:off x="311700" y="395075"/>
            <a:ext cx="16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MySQL</a:t>
            </a:r>
            <a:endParaRPr b="1" sz="2720"/>
          </a:p>
        </p:txBody>
      </p:sp>
      <p:pic>
        <p:nvPicPr>
          <p:cNvPr id="263" name="Google Shape;2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0"/>
          <p:cNvSpPr/>
          <p:nvPr/>
        </p:nvSpPr>
        <p:spPr>
          <a:xfrm>
            <a:off x="1090575" y="2249150"/>
            <a:ext cx="1296600" cy="733500"/>
          </a:xfrm>
          <a:prstGeom prst="roundRect">
            <a:avLst>
              <a:gd fmla="val 16667" name="adj"/>
            </a:avLst>
          </a:prstGeom>
          <a:solidFill>
            <a:srgbClr val="2A8A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5" name="Google Shape;265;p50"/>
          <p:cNvSpPr/>
          <p:nvPr/>
        </p:nvSpPr>
        <p:spPr>
          <a:xfrm>
            <a:off x="5284400" y="1885025"/>
            <a:ext cx="3468000" cy="8589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Hackathon Scoring System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266" name="Google Shape;266;p50"/>
          <p:cNvSpPr/>
          <p:nvPr/>
        </p:nvSpPr>
        <p:spPr>
          <a:xfrm>
            <a:off x="3099775" y="395075"/>
            <a:ext cx="3468000" cy="858900"/>
          </a:xfrm>
          <a:prstGeom prst="roundRect">
            <a:avLst>
              <a:gd fmla="val 16667" name="adj"/>
            </a:avLst>
          </a:prstGeom>
          <a:solidFill>
            <a:srgbClr val="1A56D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e-Mail Interaction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267" name="Google Shape;267;p50"/>
          <p:cNvCxnSpPr>
            <a:stCxn id="266" idx="1"/>
            <a:endCxn id="268" idx="0"/>
          </p:cNvCxnSpPr>
          <p:nvPr/>
        </p:nvCxnSpPr>
        <p:spPr>
          <a:xfrm flipH="1">
            <a:off x="2404375" y="824525"/>
            <a:ext cx="695400" cy="106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50"/>
          <p:cNvCxnSpPr>
            <a:stCxn id="266" idx="3"/>
            <a:endCxn id="265" idx="0"/>
          </p:cNvCxnSpPr>
          <p:nvPr/>
        </p:nvCxnSpPr>
        <p:spPr>
          <a:xfrm>
            <a:off x="6567775" y="824525"/>
            <a:ext cx="450600" cy="106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50"/>
          <p:cNvSpPr/>
          <p:nvPr/>
        </p:nvSpPr>
        <p:spPr>
          <a:xfrm>
            <a:off x="858175" y="2125613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71" name="Google Shape;271;p50"/>
          <p:cNvSpPr/>
          <p:nvPr/>
        </p:nvSpPr>
        <p:spPr>
          <a:xfrm>
            <a:off x="2920025" y="222300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2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72" name="Google Shape;272;p50"/>
          <p:cNvSpPr txBox="1"/>
          <p:nvPr/>
        </p:nvSpPr>
        <p:spPr>
          <a:xfrm>
            <a:off x="1169625" y="1178900"/>
            <a:ext cx="1138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submission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3" name="Google Shape;273;p50"/>
          <p:cNvSpPr txBox="1"/>
          <p:nvPr/>
        </p:nvSpPr>
        <p:spPr>
          <a:xfrm>
            <a:off x="2611325" y="1178900"/>
            <a:ext cx="1554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response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74" name="Google Shape;274;p50"/>
          <p:cNvCxnSpPr>
            <a:stCxn id="273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50"/>
          <p:cNvCxnSpPr/>
          <p:nvPr/>
        </p:nvCxnSpPr>
        <p:spPr>
          <a:xfrm flipH="1">
            <a:off x="2609225" y="1577825"/>
            <a:ext cx="4200" cy="2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50"/>
          <p:cNvCxnSpPr/>
          <p:nvPr/>
        </p:nvCxnSpPr>
        <p:spPr>
          <a:xfrm rot="10800000">
            <a:off x="2196500" y="967775"/>
            <a:ext cx="0" cy="24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50"/>
          <p:cNvSpPr/>
          <p:nvPr/>
        </p:nvSpPr>
        <p:spPr>
          <a:xfrm>
            <a:off x="5159775" y="1757775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3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78" name="Google Shape;278;p50"/>
          <p:cNvSpPr/>
          <p:nvPr/>
        </p:nvSpPr>
        <p:spPr>
          <a:xfrm>
            <a:off x="7062175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lt1"/>
                </a:solidFill>
              </a:rPr>
              <a:t>Originality</a:t>
            </a:r>
            <a:endParaRPr strike="sngStrike">
              <a:solidFill>
                <a:schemeClr val="lt1"/>
              </a:solidFill>
            </a:endParaRPr>
          </a:p>
        </p:txBody>
      </p:sp>
      <p:sp>
        <p:nvSpPr>
          <p:cNvPr id="279" name="Google Shape;279;p50"/>
          <p:cNvSpPr/>
          <p:nvPr/>
        </p:nvSpPr>
        <p:spPr>
          <a:xfrm>
            <a:off x="5284400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Early Submission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(date time of mail)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0" name="Google Shape;280;p50"/>
          <p:cNvSpPr/>
          <p:nvPr/>
        </p:nvSpPr>
        <p:spPr>
          <a:xfrm>
            <a:off x="5284400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Correctness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p50"/>
          <p:cNvSpPr/>
          <p:nvPr/>
        </p:nvSpPr>
        <p:spPr>
          <a:xfrm>
            <a:off x="7062175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Speed of Execution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2" name="Google Shape;282;p50"/>
          <p:cNvSpPr/>
          <p:nvPr/>
        </p:nvSpPr>
        <p:spPr>
          <a:xfrm>
            <a:off x="7201875" y="521525"/>
            <a:ext cx="1734000" cy="1031400"/>
          </a:xfrm>
          <a:prstGeom prst="roundRect">
            <a:avLst>
              <a:gd fmla="val 16667" name="adj"/>
            </a:avLst>
          </a:prstGeom>
          <a:solidFill>
            <a:srgbClr val="0E1E2B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Individual Score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DQLab Leaderboard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3" name="Google Shape;283;p50"/>
          <p:cNvSpPr/>
          <p:nvPr/>
        </p:nvSpPr>
        <p:spPr>
          <a:xfrm>
            <a:off x="7018375" y="268350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4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84" name="Google Shape;284;p50"/>
          <p:cNvSpPr txBox="1"/>
          <p:nvPr/>
        </p:nvSpPr>
        <p:spPr>
          <a:xfrm>
            <a:off x="690500" y="1710913"/>
            <a:ext cx="1506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File SQL Script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85" name="Google Shape;285;p50"/>
          <p:cNvSpPr/>
          <p:nvPr/>
        </p:nvSpPr>
        <p:spPr>
          <a:xfrm>
            <a:off x="1920600" y="2998850"/>
            <a:ext cx="1506000" cy="10314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 5 ke atas</a:t>
            </a:r>
            <a:endParaRPr/>
          </a:p>
        </p:txBody>
      </p:sp>
      <p:sp>
        <p:nvSpPr>
          <p:cNvPr id="286" name="Google Shape;286;p50"/>
          <p:cNvSpPr txBox="1"/>
          <p:nvPr/>
        </p:nvSpPr>
        <p:spPr>
          <a:xfrm>
            <a:off x="1926575" y="4146100"/>
            <a:ext cx="29241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File MySQL Dump (.sql)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&lt;= 10,000 rows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Scoring</a:t>
            </a:r>
            <a:endParaRPr b="1" sz="2720"/>
          </a:p>
        </p:txBody>
      </p:sp>
      <p:pic>
        <p:nvPicPr>
          <p:cNvPr id="293" name="Google Shape;2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1"/>
          <p:cNvSpPr/>
          <p:nvPr/>
        </p:nvSpPr>
        <p:spPr>
          <a:xfrm>
            <a:off x="5284400" y="1885025"/>
            <a:ext cx="3468000" cy="8589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Hackathon Scoring System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295" name="Google Shape;295;p51"/>
          <p:cNvCxnSpPr>
            <a:stCxn id="296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51"/>
          <p:cNvSpPr/>
          <p:nvPr/>
        </p:nvSpPr>
        <p:spPr>
          <a:xfrm>
            <a:off x="5159775" y="1757775"/>
            <a:ext cx="377700" cy="377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4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98" name="Google Shape;298;p51"/>
          <p:cNvSpPr/>
          <p:nvPr/>
        </p:nvSpPr>
        <p:spPr>
          <a:xfrm>
            <a:off x="7062175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lt1"/>
                </a:solidFill>
              </a:rPr>
              <a:t>Originality</a:t>
            </a:r>
            <a:endParaRPr strike="sngStrike">
              <a:solidFill>
                <a:schemeClr val="lt1"/>
              </a:solidFill>
            </a:endParaRPr>
          </a:p>
        </p:txBody>
      </p:sp>
      <p:sp>
        <p:nvSpPr>
          <p:cNvPr id="299" name="Google Shape;299;p51"/>
          <p:cNvSpPr/>
          <p:nvPr/>
        </p:nvSpPr>
        <p:spPr>
          <a:xfrm>
            <a:off x="5284400" y="2811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Early Submission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(date time of mail)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0" name="Google Shape;300;p51"/>
          <p:cNvSpPr/>
          <p:nvPr/>
        </p:nvSpPr>
        <p:spPr>
          <a:xfrm>
            <a:off x="5284400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Correctness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1" name="Google Shape;301;p51"/>
          <p:cNvSpPr/>
          <p:nvPr/>
        </p:nvSpPr>
        <p:spPr>
          <a:xfrm>
            <a:off x="7062175" y="3612425"/>
            <a:ext cx="1734000" cy="733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Speed of Execution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2" name="Google Shape;302;p51"/>
          <p:cNvSpPr txBox="1"/>
          <p:nvPr/>
        </p:nvSpPr>
        <p:spPr>
          <a:xfrm>
            <a:off x="400625" y="1153425"/>
            <a:ext cx="45768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Each individual may get the same or different task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The scoring will be focus on:</a:t>
            </a:r>
            <a:endParaRPr sz="16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n" sz="1500">
                <a:solidFill>
                  <a:schemeClr val="dk2"/>
                </a:solidFill>
              </a:rPr>
              <a:t>correctness</a:t>
            </a:r>
            <a:r>
              <a:rPr lang="en" sz="1500">
                <a:solidFill>
                  <a:schemeClr val="dk2"/>
                </a:solidFill>
              </a:rPr>
              <a:t>: how the SQL can produce output as it expected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n" sz="1500">
                <a:solidFill>
                  <a:schemeClr val="dk2"/>
                </a:solidFill>
              </a:rPr>
              <a:t>how early you submit</a:t>
            </a:r>
            <a:r>
              <a:rPr lang="en" sz="1500">
                <a:solidFill>
                  <a:schemeClr val="dk2"/>
                </a:solidFill>
              </a:rPr>
              <a:t>: the earlier the better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n" sz="1500">
                <a:solidFill>
                  <a:schemeClr val="dk2"/>
                </a:solidFill>
              </a:rPr>
              <a:t>speed of execution</a:t>
            </a:r>
            <a:r>
              <a:rPr lang="en" sz="1500">
                <a:solidFill>
                  <a:schemeClr val="dk2"/>
                </a:solidFill>
              </a:rPr>
              <a:t>: what is the code perform in terms of speed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n" sz="1500" strike="sngStrike">
                <a:solidFill>
                  <a:schemeClr val="dk2"/>
                </a:solidFill>
              </a:rPr>
              <a:t>originality</a:t>
            </a:r>
            <a:r>
              <a:rPr lang="en" sz="1500" strike="sngStrike">
                <a:solidFill>
                  <a:schemeClr val="dk2"/>
                </a:solidFill>
              </a:rPr>
              <a:t>: no plagiarism - check with similarity to other earlier submission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2"/>
          <p:cNvSpPr txBox="1"/>
          <p:nvPr>
            <p:ph type="title"/>
          </p:nvPr>
        </p:nvSpPr>
        <p:spPr>
          <a:xfrm>
            <a:off x="311700" y="1839900"/>
            <a:ext cx="8520600" cy="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/>
              <a:t>Email Interaction Guide</a:t>
            </a:r>
            <a:endParaRPr b="1" sz="3120"/>
          </a:p>
        </p:txBody>
      </p:sp>
      <p:pic>
        <p:nvPicPr>
          <p:cNvPr id="309" name="Google Shape;3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3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Email Address to Submit (Hackathon Day)</a:t>
            </a:r>
            <a:endParaRPr b="1" sz="2720"/>
          </a:p>
        </p:txBody>
      </p:sp>
      <p:pic>
        <p:nvPicPr>
          <p:cNvPr id="316" name="Google Shape;31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53"/>
          <p:cNvCxnSpPr>
            <a:stCxn id="318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53"/>
          <p:cNvSpPr txBox="1"/>
          <p:nvPr/>
        </p:nvSpPr>
        <p:spPr>
          <a:xfrm>
            <a:off x="382050" y="1079100"/>
            <a:ext cx="46695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For you will have all the interactions with the following address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00FF"/>
                </a:solidFill>
              </a:rPr>
              <a:t>tugastest@ujikompetensi.com</a:t>
            </a:r>
            <a:endParaRPr sz="1600">
              <a:solidFill>
                <a:srgbClr val="2A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4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When you can interact with the system?</a:t>
            </a:r>
            <a:endParaRPr b="1" sz="2720"/>
          </a:p>
        </p:txBody>
      </p:sp>
      <p:pic>
        <p:nvPicPr>
          <p:cNvPr id="326" name="Google Shape;3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54"/>
          <p:cNvCxnSpPr>
            <a:stCxn id="328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54"/>
          <p:cNvSpPr txBox="1"/>
          <p:nvPr/>
        </p:nvSpPr>
        <p:spPr>
          <a:xfrm>
            <a:off x="400625" y="1153425"/>
            <a:ext cx="73806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system will be live by </a:t>
            </a:r>
            <a:r>
              <a:rPr b="1" lang="en" sz="1800">
                <a:solidFill>
                  <a:schemeClr val="dk2"/>
                </a:solidFill>
              </a:rPr>
              <a:t>13 June 2026 10:00 WIB</a:t>
            </a:r>
            <a:r>
              <a:rPr lang="en" sz="1800">
                <a:solidFill>
                  <a:schemeClr val="dk2"/>
                </a:solidFill>
              </a:rPr>
              <a:t> to </a:t>
            </a:r>
            <a:r>
              <a:rPr b="1" lang="en" sz="1800">
                <a:solidFill>
                  <a:schemeClr val="dk2"/>
                </a:solidFill>
              </a:rPr>
              <a:t>14th May 10:00 WIB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result will be sent around </a:t>
            </a:r>
            <a:r>
              <a:rPr b="1" lang="en" sz="1800">
                <a:solidFill>
                  <a:schemeClr val="dk2"/>
                </a:solidFill>
              </a:rPr>
              <a:t>10</a:t>
            </a:r>
            <a:r>
              <a:rPr lang="en" sz="1800">
                <a:solidFill>
                  <a:schemeClr val="dk2"/>
                </a:solidFill>
              </a:rPr>
              <a:t> - </a:t>
            </a:r>
            <a:r>
              <a:rPr b="1" lang="en" sz="1800">
                <a:solidFill>
                  <a:schemeClr val="dk2"/>
                </a:solidFill>
              </a:rPr>
              <a:t>15 minutes</a:t>
            </a:r>
            <a:r>
              <a:rPr lang="en" sz="1800">
                <a:solidFill>
                  <a:schemeClr val="dk2"/>
                </a:solidFill>
              </a:rPr>
              <a:t> via email to the participant.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5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Type of Interactions</a:t>
            </a:r>
            <a:endParaRPr b="1" sz="2720"/>
          </a:p>
        </p:txBody>
      </p:sp>
      <p:pic>
        <p:nvPicPr>
          <p:cNvPr id="336" name="Google Shape;3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55"/>
          <p:cNvCxnSpPr>
            <a:stCxn id="338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55"/>
          <p:cNvSpPr txBox="1"/>
          <p:nvPr/>
        </p:nvSpPr>
        <p:spPr>
          <a:xfrm>
            <a:off x="409900" y="1097725"/>
            <a:ext cx="7380600" cy="3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Check if I am registered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Use this if you need to check whether you already registered in the system or not.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Update nickname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Use this to update your nickname.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Check Score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Use this if you need to check your score.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Request Task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Use this if you need to request detailed task.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Submit Task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Use this if you need to submit task.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File Complaint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if you need to complaint about system that you considered not working properly.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6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Interaction Limitation</a:t>
            </a:r>
            <a:endParaRPr b="1" sz="2720"/>
          </a:p>
        </p:txBody>
      </p:sp>
      <p:pic>
        <p:nvPicPr>
          <p:cNvPr id="346" name="Google Shape;34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56"/>
          <p:cNvCxnSpPr>
            <a:stCxn id="348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56"/>
          <p:cNvSpPr txBox="1"/>
          <p:nvPr/>
        </p:nvSpPr>
        <p:spPr>
          <a:xfrm>
            <a:off x="400625" y="1153425"/>
            <a:ext cx="73806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cannot send more than one email at a duration of 5 minutes. Otherwise it will not be processed.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 other words, you can send another email after 5 minutes of your last email.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7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Check if I am Registered</a:t>
            </a:r>
            <a:endParaRPr b="1" sz="2720"/>
          </a:p>
        </p:txBody>
      </p:sp>
      <p:pic>
        <p:nvPicPr>
          <p:cNvPr id="356" name="Google Shape;35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57"/>
          <p:cNvCxnSpPr>
            <a:stCxn id="358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57"/>
          <p:cNvSpPr txBox="1"/>
          <p:nvPr/>
        </p:nvSpPr>
        <p:spPr>
          <a:xfrm>
            <a:off x="40062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an empty email with the following subject: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Check If I am Registered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can be case insensitive and spaces are okay, so the following subjects are correct: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c</a:t>
            </a:r>
            <a:r>
              <a:rPr lang="en" sz="1800">
                <a:solidFill>
                  <a:srgbClr val="1A56DA"/>
                </a:solidFill>
              </a:rPr>
              <a:t>heck if I am registered</a:t>
            </a:r>
            <a:br>
              <a:rPr lang="en" sz="1800">
                <a:solidFill>
                  <a:srgbClr val="1A56DA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check   if   I   am registered</a:t>
            </a:r>
            <a:br>
              <a:rPr lang="en" sz="1800">
                <a:solidFill>
                  <a:srgbClr val="1A56DA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check if i am registered</a:t>
            </a:r>
            <a:br>
              <a:rPr lang="en" sz="1800">
                <a:solidFill>
                  <a:srgbClr val="1A56DA"/>
                </a:solidFill>
              </a:rPr>
            </a:br>
            <a:endParaRPr sz="1800">
              <a:solidFill>
                <a:srgbClr val="1A56DA"/>
              </a:solidFill>
            </a:endParaRPr>
          </a:p>
        </p:txBody>
      </p:sp>
      <p:sp>
        <p:nvSpPr>
          <p:cNvPr id="360" name="Google Shape;360;p57"/>
          <p:cNvSpPr txBox="1"/>
          <p:nvPr/>
        </p:nvSpPr>
        <p:spPr>
          <a:xfrm>
            <a:off x="469777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Response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</a:t>
            </a:r>
            <a:r>
              <a:rPr lang="en" sz="1800">
                <a:solidFill>
                  <a:schemeClr val="dk2"/>
                </a:solidFill>
              </a:rPr>
              <a:t>you are registered in our system you will received an email reply stating that you already registered.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You will not received any reply from our system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Notes: always check for spam inbox since this is a new system.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8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Change Nick Name</a:t>
            </a:r>
            <a:endParaRPr b="1" sz="2720"/>
          </a:p>
        </p:txBody>
      </p:sp>
      <p:pic>
        <p:nvPicPr>
          <p:cNvPr id="367" name="Google Shape;36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58"/>
          <p:cNvCxnSpPr>
            <a:stCxn id="369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58"/>
          <p:cNvSpPr txBox="1"/>
          <p:nvPr/>
        </p:nvSpPr>
        <p:spPr>
          <a:xfrm>
            <a:off x="400625" y="1153425"/>
            <a:ext cx="49824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an empty email with the following subject: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700">
                <a:solidFill>
                  <a:srgbClr val="1A56DA"/>
                </a:solidFill>
                <a:latin typeface="Courier New"/>
                <a:ea typeface="Courier New"/>
                <a:cs typeface="Courier New"/>
                <a:sym typeface="Courier New"/>
              </a:rPr>
              <a:t>Change Nickname to </a:t>
            </a:r>
            <a:r>
              <a:rPr lang="en" sz="1700">
                <a:solidFill>
                  <a:srgbClr val="1A56DA"/>
                </a:solidFill>
                <a:latin typeface="Courier New"/>
                <a:ea typeface="Courier New"/>
                <a:cs typeface="Courier New"/>
                <a:sym typeface="Courier New"/>
              </a:rPr>
              <a:t>'YOURNICKNAME</a:t>
            </a:r>
            <a:r>
              <a:rPr lang="en" sz="1700">
                <a:solidFill>
                  <a:srgbClr val="1A56DA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can be case insensitive and spaces are okay.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Nickname must only contains combination of alphanumeric, underscore, and dash characters</a:t>
            </a:r>
            <a:endParaRPr sz="1800">
              <a:solidFill>
                <a:srgbClr val="1A56DA"/>
              </a:solidFill>
            </a:endParaRPr>
          </a:p>
        </p:txBody>
      </p:sp>
      <p:sp>
        <p:nvSpPr>
          <p:cNvPr id="371" name="Google Shape;371;p58"/>
          <p:cNvSpPr txBox="1"/>
          <p:nvPr/>
        </p:nvSpPr>
        <p:spPr>
          <a:xfrm>
            <a:off x="5319000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Response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succeed you will received email that nick name has been changed.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fail then you will received failed message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Notes: always check for spam inbox since this is a new system.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9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Check Score</a:t>
            </a:r>
            <a:endParaRPr b="1" sz="2720"/>
          </a:p>
        </p:txBody>
      </p:sp>
      <p:pic>
        <p:nvPicPr>
          <p:cNvPr id="378" name="Google Shape;37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9"/>
          <p:cNvSpPr txBox="1"/>
          <p:nvPr/>
        </p:nvSpPr>
        <p:spPr>
          <a:xfrm>
            <a:off x="400625" y="1153425"/>
            <a:ext cx="84318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an empty email with the following subject: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CHECK SCORE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can check immediate result in the email.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80" name="Google Shape;380;p59"/>
          <p:cNvCxnSpPr>
            <a:stCxn id="381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0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0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Request Task</a:t>
            </a:r>
            <a:endParaRPr b="1" sz="2720"/>
          </a:p>
        </p:txBody>
      </p:sp>
      <p:pic>
        <p:nvPicPr>
          <p:cNvPr id="388" name="Google Shape;38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60"/>
          <p:cNvSpPr txBox="1"/>
          <p:nvPr/>
        </p:nvSpPr>
        <p:spPr>
          <a:xfrm>
            <a:off x="40062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an empty email with the following subject: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Request Task</a:t>
            </a:r>
            <a:endParaRPr sz="1800">
              <a:solidFill>
                <a:srgbClr val="1A56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90" name="Google Shape;390;p60"/>
          <p:cNvCxnSpPr>
            <a:stCxn id="391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60"/>
          <p:cNvSpPr txBox="1"/>
          <p:nvPr/>
        </p:nvSpPr>
        <p:spPr>
          <a:xfrm>
            <a:off x="469777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Response: You will get task detail link and its description, with MySQL dump file.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1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File Complaint</a:t>
            </a:r>
            <a:endParaRPr b="1" sz="2720"/>
          </a:p>
        </p:txBody>
      </p:sp>
      <p:pic>
        <p:nvPicPr>
          <p:cNvPr id="399" name="Google Shape;39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61"/>
          <p:cNvSpPr txBox="1"/>
          <p:nvPr/>
        </p:nvSpPr>
        <p:spPr>
          <a:xfrm>
            <a:off x="40062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 subject with the following subject: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rgbClr val="1A56DA"/>
                </a:solidFill>
              </a:rPr>
              <a:t>File Complaint</a:t>
            </a:r>
            <a:br>
              <a:rPr lang="en" sz="1800">
                <a:solidFill>
                  <a:srgbClr val="1A56DA"/>
                </a:solidFill>
              </a:rPr>
            </a:br>
            <a:endParaRPr sz="1800">
              <a:solidFill>
                <a:srgbClr val="1A56D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will send a body with your complaint or critique message, can be with attachment like screenshots, files, etc.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cxnSp>
        <p:nvCxnSpPr>
          <p:cNvPr id="401" name="Google Shape;401;p61"/>
          <p:cNvCxnSpPr>
            <a:stCxn id="402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61"/>
          <p:cNvSpPr txBox="1"/>
          <p:nvPr/>
        </p:nvSpPr>
        <p:spPr>
          <a:xfrm>
            <a:off x="469777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Response: You will get notification that your complaint already put into our system.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2"/>
          <p:cNvSpPr/>
          <p:nvPr/>
        </p:nvSpPr>
        <p:spPr>
          <a:xfrm>
            <a:off x="0" y="0"/>
            <a:ext cx="9144000" cy="25716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2"/>
          <p:cNvSpPr txBox="1"/>
          <p:nvPr>
            <p:ph type="title"/>
          </p:nvPr>
        </p:nvSpPr>
        <p:spPr>
          <a:xfrm>
            <a:off x="311700" y="39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Submit Task</a:t>
            </a:r>
            <a:endParaRPr b="1" sz="2720"/>
          </a:p>
        </p:txBody>
      </p:sp>
      <p:pic>
        <p:nvPicPr>
          <p:cNvPr id="410" name="Google Shape;41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1938" y="4803448"/>
            <a:ext cx="561725" cy="1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2"/>
          <p:cNvSpPr txBox="1"/>
          <p:nvPr/>
        </p:nvSpPr>
        <p:spPr>
          <a:xfrm>
            <a:off x="40062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Will be instructed in the task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12" name="Google Shape;412;p62"/>
          <p:cNvCxnSpPr>
            <a:stCxn id="413" idx="1"/>
          </p:cNvCxnSpPr>
          <p:nvPr/>
        </p:nvCxnSpPr>
        <p:spPr>
          <a:xfrm>
            <a:off x="2611325" y="1426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62"/>
          <p:cNvSpPr txBox="1"/>
          <p:nvPr/>
        </p:nvSpPr>
        <p:spPr>
          <a:xfrm>
            <a:off x="4697775" y="1153425"/>
            <a:ext cx="3825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Response: Score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3"/>
          <p:cNvSpPr/>
          <p:nvPr/>
        </p:nvSpPr>
        <p:spPr>
          <a:xfrm>
            <a:off x="0" y="0"/>
            <a:ext cx="2835000" cy="5143500"/>
          </a:xfrm>
          <a:prstGeom prst="rect">
            <a:avLst/>
          </a:prstGeom>
          <a:solidFill>
            <a:srgbClr val="DDF1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8900" y="143275"/>
            <a:ext cx="64060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63"/>
          <p:cNvPicPr preferRelativeResize="0"/>
          <p:nvPr/>
        </p:nvPicPr>
        <p:blipFill rotWithShape="1">
          <a:blip r:embed="rId4">
            <a:alphaModFix/>
          </a:blip>
          <a:srcRect b="0" l="17272" r="17279" t="0"/>
          <a:stretch/>
        </p:blipFill>
        <p:spPr>
          <a:xfrm>
            <a:off x="1065500" y="600150"/>
            <a:ext cx="3869400" cy="3943200"/>
          </a:xfrm>
          <a:prstGeom prst="roundRect">
            <a:avLst>
              <a:gd fmla="val 1066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